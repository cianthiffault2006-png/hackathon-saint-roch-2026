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 : logo, carte de Saint-Roch, trois points qui se relient.</a:t>
            </a:r>
          </a:p>
          <a:p>
            <a:r>
              <a:t>Signal [COÉQUIPIÈRE] : lancer l’accroche, ne pas lire la diapo. (10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réelle, seulement si on en a une : remplacer la quatrième carte par « [CITATION RÉELLE ICI, sinon laisser la carte de repli] » avant l’export PDF de 12 h 30. Jamais de crochets sur une diapo projetée.</a:t>
            </a:r>
          </a:p>
          <a:p>
            <a:r>
              <a:t>Visuel : trois icônes isolées (café, artiste, organisme) à cinq minutes à pied.</a:t>
            </a:r>
          </a:p>
          <a:p>
            <a:r>
              <a:t>Carte « Ce qu’on a entendu » : par défaut la phrase de repli, vraie sans rien ajouter (dite jeudi 15 octobre par l’intervenant qui présentait le quartier); si un commerçant rencontré vendredi matin a donné une vraie citation, elle la remplace, telle quelle, sans nom si la personne ne l’a pas permis. Ne jamais inventer une citation.</a:t>
            </a:r>
          </a:p>
          <a:p>
            <a:r>
              <a:t>Signal [COÉQUIPIÈRE] : histoire de Mathieu (Café Le Petit Détour), de Camille Vézina et du Collectif Les Voisins en Scène. Finir par « Personne ne sait que les deux autres existent. » (30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 : capture de l’écran de proposition. Couleurs (notes) : le vert profond rassure et ancre l’app dans le quartier, l’orange invite à agir; chaque couleur respecte les contrastes d’accessibilité et les épingles combinent forme, icône et couleur pour les personnes daltoniennes (environ 8 % des hommes). Phrase complète à dire : « Maillage ne remplace aucun outil existant : il crée le lien qui manque entre ceux qui ont des ressources et ceux qui ont des projets. » Message de fond : une app mobile qui propose des projets à trois partenaires, sur la carte, avec les raisons.</a:t>
            </a:r>
          </a:p>
          <a:p>
            <a:r>
              <a:t>Signal [CIAN] : « Voyons comment ça marche », puis passer à l’app : coller la phrase « On a un espace libre le jeudi soir et on cherche des artistes pour l’animer », 87 % avec Camille Vézina et le Collectif Les Voisins en Scène, dire la réciprocité, toucher « Comment ce score » et dire la ligne « Réciprocité 58 % », puis « Voir ce que Camille reçoit » et « Accepter ». Si l’app plante : Visite guidée, chapitres 1 à 4 seulement (environ 73 s; la visite complète dure 2 min), puis « Quitter la visite ». (1 min 45 s avec la démo)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Contenu en trois colonnes :</a:t>
            </a:r>
          </a:p>
          <a:p>
            <a:r>
              <a:t>- Technologies : Vite, React, TypeScript, MapLibre GL JS.</a:t>
            </a:r>
          </a:p>
          <a:p>
            <a:r>
              <a:t>- Outils et plateformes : OpenFreeMap et OpenStreetMap (fond de carte), GitHub Pages (hébergement; Vercel en secours), GitHub (code), Claude Code comme assistant de développement.</a:t>
            </a:r>
          </a:p>
          <a:p>
            <a:r>
              <a:t>- Données : Données Québec, données ouvertes de la Ville de Québec et du SIT Québec (CC BY 4.0, attribution dans l’app). Fichiers fournis confidentiels : structure et nombre de lignes seulement, remplacés par des profils fictifs dans la démo. Les nombres sont des totaux de lignes : « les 386 membres du fichier fourni par la SDC », « 614 organismes reconnus à l’échelle de la ville » (jamais « dans Saint-Roch » pour un fichier de toute la ville).</a:t>
            </a:r>
          </a:p>
          <a:p>
            <a:r>
              <a:t>Signal [CIAN] : dire « Maillage part des répertoires qui existent déjà : les 386 membres du fichier fourni par la SDC, et 614 organismes reconnus à l’échelle de la ville. Personne ne commence avec une page blanche. » Puis la Loi 25 : « Pour la Loi 25, le consentement décide. Ces répertoires pré-remplissent les fiches. Une fiche devient publique seulement après réclamation, avec un code et un consentement; en pilote, une fiche non réclamée n’est visible que par la SDC. Dans cette démo, la carte mêle des fiches fictives et de vrais commerces des données ouvertes du SIT Québec, chacun marqué pré-rempli tant que son responsable ne l’a pas réclamé. Les personnes, elles, ne sont jamais pré-remplies. » (Dans la démo, les fiches pré-remplies restent visibles sur la carte, voulu, avec l’étiquette « Pré-rempli · visible ici pour la démo », sans coordonnées : neuf fictives et seize commerces réels des données ouvertes du SIT Québec; la règle du pilote n’est pas codée; ne pas dire le contraire.) Nos règles s’appuient aussi sur le Plan d’action Saint-Roch. (42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 : une carte de proposition avec « Pourquoi cette suggestion » et « À confirmer » surlignés; en bas, en petit : « Chaque suggestion s’explique. » Notes du test d’IA (pas sur la diapo, à voix haute seulement si on veut) : « Modèle multilingue dans le navigateur, gratuit, texte sur l’appareil (page /labo/) : 69 s au premier chargement (environ 130 Mo), 13 s ensuite, 0,3 à 0,6 s par phrase. Trouve des profils semblables, pas complémentaires. » Ce modèle (paraphrase-multilingual-MiniLM) est multilingue. Déjà dans l’app : tolérance aux fautes, aux accents oubliés et à quelques mots d’anglais. Pas d’IA payante aujourd’hui; en phase 2, celui qui déploie la paie.</a:t>
            </a:r>
          </a:p>
          <a:p>
            <a:r>
              <a:t>Signal [COÉQUIPIÈRE] : verdict d’abord : on l’a testée, on a choisi des règles pour que chaque suggestion s’explique. Chiffres du test seulement si le jury demande. (20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Feuille de route en trois temps :</a:t>
            </a:r>
          </a:p>
          <a:p>
            <a:r>
              <a:t>- Maintenant : démo avec profils fictifs et données ouvertes.</a:t>
            </a:r>
          </a:p>
          <a:p>
            <a:r>
              <a:t>- Ensuite : pilote avec la SDC, profils activés par leurs propriétaires, vraies notifications, fil de projet sur une table gratuite derrière le même écran, modérée par la SDC.</a:t>
            </a:r>
          </a:p>
          <a:p>
            <a:r>
              <a:t>- Plus tard : modèle de langage pour lire les demandes, autres quartiers.</a:t>
            </a:r>
          </a:p>
          <a:p>
            <a:r>
              <a:t>Mesures : projets confirmés, nouveaux partenariats, fréquentation des événements créés.</a:t>
            </a:r>
          </a:p>
          <a:p>
            <a:r>
              <a:t>Signal [CIAN] : portée : « Maillage règle un problème précis : trouver le bon partenaire, se mettre d’accord et passer à l’action. On s’arrête là où d’autres outils existent : 311, 911, financement. » Puis le fil et la modération, une seule fois : « Le fil de la démo est simulé; un vrai fil partagé existe déjà en option, hébergé au Canada. Le tableau de modération pour la SDC est prévu, pas construit. » Puis la demande de pilote : « Ce qu’on demande à la SDC : dix membres volontaires, un trimestre, une personne à temps partiel et un export du fichier des membres. On mesure trois chiffres, et on décide ensemble si on étend. » (45 s)</a:t>
            </a:r>
          </a:p>
          <a:p>
            <a:r>
              <a:t>Histoire 2 (en direct seulement si le temps le permet, voir script-fr.md, démo étape 6 : Accueil, Proposer un projet, Exemple, Avant de commencer) : Sofia, résidente de la rue Saint-Joseph, corvée le samedi 24 octobre de 13 h à 17 h, voit des graffitis et des déchets; Maillage lui propose une « Corvée de propreté avec Équipe Propreté du Faubourg », des bénévoles et un café du coin, avec la liste « autorisation du propriétaire, 311 pour la voie publique ». Noms fictifs.</a:t>
            </a:r>
          </a:p>
          <a:p>
            <a:r>
              <a:t>À ajouter à la feuille de route seulement si non démontré en direct : Explorer le quartier, profils publics, fil de projet, projets ouverts.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 : la carte, les trois points reliés, code QR vers https://cianthiffault2006-png.github.io/hackathon-saint-roch-2026/ (lien officiel, GitHub Pages). Ne pas mettre le lien Vercel : il est figé sur une ancienne version.</a:t>
            </a:r>
          </a:p>
          <a:p>
            <a:r>
              <a:t>Pied de page : « Équipe 14 · Outils d’IA : Claude Code et Claude (code, scripts de données, brouillons de textes). Fait par l’équipe : cadrage du problème, choix de données, conception, tests, présentation. »</a:t>
            </a:r>
          </a:p>
          <a:p>
            <a:r>
              <a:t>Signal [COÉQUIPIÈRE] : phrase finale, « Merci! », attendre les questions. (15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737360"/>
            <a:ext cx="6766560" cy="1463040"/>
          </a:xfrm>
          <a:prstGeom prst="rect">
            <a:avLst/>
          </a:prstGeom>
          <a:noFill/>
        </p:spPr>
        <p:txBody>
          <a:bodyPr wrap="square" anchor="t">
            <a:spAutoFit/>
          </a:bodyPr>
          <a:lstStyle/>
          <a:p>
            <a:pPr algn="l"/>
            <a:r>
              <a:rPr sz="8800" b="1">
                <a:solidFill>
                  <a:srgbClr val="1F5F4A"/>
                </a:solidFill>
                <a:latin typeface="Calibri"/>
              </a:rPr>
              <a:t>Maillage</a:t>
            </a:r>
          </a:p>
        </p:txBody>
      </p:sp>
      <p:sp>
        <p:nvSpPr>
          <p:cNvPr id="4" name="Rectangle 3"/>
          <p:cNvSpPr/>
          <p:nvPr/>
        </p:nvSpPr>
        <p:spPr>
          <a:xfrm>
            <a:off x="685800" y="3291840"/>
            <a:ext cx="1463040" cy="7315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520440"/>
            <a:ext cx="6766560" cy="1280160"/>
          </a:xfrm>
          <a:prstGeom prst="rect">
            <a:avLst/>
          </a:prstGeom>
          <a:noFill/>
        </p:spPr>
        <p:txBody>
          <a:bodyPr wrap="square" anchor="t">
            <a:spAutoFit/>
          </a:bodyPr>
          <a:lstStyle/>
          <a:p>
            <a:pPr algn="l"/>
            <a:r>
              <a:rPr sz="3200" b="0">
                <a:solidFill>
                  <a:srgbClr val="222B27"/>
                </a:solidFill>
                <a:latin typeface="Calibri"/>
              </a:rPr>
              <a:t>Un café, une artiste, un organisme : un projet.</a:t>
            </a:r>
          </a:p>
        </p:txBody>
      </p:sp>
      <p:sp>
        <p:nvSpPr>
          <p:cNvPr id="6" name="TextBox 5"/>
          <p:cNvSpPr txBox="1"/>
          <p:nvPr/>
        </p:nvSpPr>
        <p:spPr>
          <a:xfrm>
            <a:off x="640080" y="5120640"/>
            <a:ext cx="6766560" cy="457200"/>
          </a:xfrm>
          <a:prstGeom prst="rect">
            <a:avLst/>
          </a:prstGeom>
          <a:noFill/>
        </p:spPr>
        <p:txBody>
          <a:bodyPr wrap="square" anchor="t">
            <a:spAutoFit/>
          </a:bodyPr>
          <a:lstStyle/>
          <a:p>
            <a:pPr algn="l"/>
            <a:r>
              <a:rPr sz="2000" b="0">
                <a:solidFill>
                  <a:srgbClr val="1F5F4A"/>
                </a:solidFill>
                <a:latin typeface="Calibri"/>
              </a:rPr>
              <a:t>Équipe 14 · Hackathon étudiant 2026 · Saint-Roch</a:t>
            </a:r>
          </a:p>
        </p:txBody>
      </p:sp>
      <p:pic>
        <p:nvPicPr>
          <p:cNvPr id="7" name="Picture 6" descr="slide-1.png"/>
          <p:cNvPicPr>
            <a:picLocks noChangeAspect="1"/>
          </p:cNvPicPr>
          <p:nvPr/>
        </p:nvPicPr>
        <p:blipFill>
          <a:blip r:embed="rId2"/>
          <a:stretch>
            <a:fillRect/>
          </a:stretch>
        </p:blipFill>
        <p:spPr>
          <a:xfrm>
            <a:off x="8446174" y="731520"/>
            <a:ext cx="2492931" cy="5394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1F5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
            <a:ext cx="10911535" cy="960120"/>
          </a:xfrm>
          <a:prstGeom prst="rect">
            <a:avLst/>
          </a:prstGeom>
          <a:noFill/>
        </p:spPr>
        <p:txBody>
          <a:bodyPr wrap="square" anchor="ctr">
            <a:spAutoFit/>
          </a:bodyPr>
          <a:lstStyle/>
          <a:p>
            <a:pPr algn="l"/>
            <a:r>
              <a:rPr sz="4000" b="1">
                <a:solidFill>
                  <a:srgbClr val="FFFFFF"/>
                </a:solidFill>
                <a:latin typeface="Calibri"/>
              </a:rPr>
              <a:t>Le problème</a:t>
            </a:r>
          </a:p>
        </p:txBody>
      </p:sp>
      <p:sp>
        <p:nvSpPr>
          <p:cNvPr id="4" name="Rectangle 3"/>
          <p:cNvSpPr/>
          <p:nvPr/>
        </p:nvSpPr>
        <p:spPr>
          <a:xfrm>
            <a:off x="0" y="1325880"/>
            <a:ext cx="12191695" cy="640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10911535" cy="1371600"/>
          </a:xfrm>
          <a:prstGeom prst="rect">
            <a:avLst/>
          </a:prstGeom>
          <a:noFill/>
        </p:spPr>
        <p:txBody>
          <a:bodyPr wrap="square" anchor="t">
            <a:spAutoFit/>
          </a:bodyPr>
          <a:lstStyle/>
          <a:p>
            <a:pPr algn="l"/>
            <a:r>
              <a:rPr sz="3400" b="1">
                <a:solidFill>
                  <a:srgbClr val="222B27"/>
                </a:solidFill>
                <a:latin typeface="Calibri"/>
              </a:rPr>
              <a:t>Les initiatives existent. Ce qui manque, c’est le réseau qui les relie.</a:t>
            </a:r>
          </a:p>
        </p:txBody>
      </p:sp>
      <p:sp>
        <p:nvSpPr>
          <p:cNvPr id="6" name="Rounded Rectangle 5"/>
          <p:cNvSpPr/>
          <p:nvPr/>
        </p:nvSpPr>
        <p:spPr>
          <a:xfrm>
            <a:off x="640080" y="3337560"/>
            <a:ext cx="2556433" cy="2377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337560"/>
            <a:ext cx="2556433" cy="10972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566160"/>
            <a:ext cx="2190673" cy="2011680"/>
          </a:xfrm>
          <a:prstGeom prst="rect">
            <a:avLst/>
          </a:prstGeom>
          <a:noFill/>
        </p:spPr>
        <p:txBody>
          <a:bodyPr wrap="square" anchor="ctr">
            <a:spAutoFit/>
          </a:bodyPr>
          <a:lstStyle/>
          <a:p>
            <a:pPr algn="l"/>
            <a:r>
              <a:rPr sz="2000" b="0">
                <a:solidFill>
                  <a:srgbClr val="222B27"/>
                </a:solidFill>
                <a:latin typeface="Calibri"/>
              </a:rPr>
              <a:t>Un café</a:t>
            </a:r>
          </a:p>
        </p:txBody>
      </p:sp>
      <p:sp>
        <p:nvSpPr>
          <p:cNvPr id="9" name="Rounded Rectangle 8"/>
          <p:cNvSpPr/>
          <p:nvPr/>
        </p:nvSpPr>
        <p:spPr>
          <a:xfrm>
            <a:off x="3425113" y="3337560"/>
            <a:ext cx="2556433" cy="2377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5113" y="3337560"/>
            <a:ext cx="2556433" cy="10972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7993" y="3566160"/>
            <a:ext cx="2190673" cy="2011680"/>
          </a:xfrm>
          <a:prstGeom prst="rect">
            <a:avLst/>
          </a:prstGeom>
          <a:noFill/>
        </p:spPr>
        <p:txBody>
          <a:bodyPr wrap="square" anchor="ctr">
            <a:spAutoFit/>
          </a:bodyPr>
          <a:lstStyle/>
          <a:p>
            <a:pPr algn="l"/>
            <a:r>
              <a:rPr sz="2000" b="0">
                <a:solidFill>
                  <a:srgbClr val="222B27"/>
                </a:solidFill>
                <a:latin typeface="Calibri"/>
              </a:rPr>
              <a:t>Une artiste</a:t>
            </a:r>
          </a:p>
        </p:txBody>
      </p:sp>
      <p:sp>
        <p:nvSpPr>
          <p:cNvPr id="12" name="Rounded Rectangle 11"/>
          <p:cNvSpPr/>
          <p:nvPr/>
        </p:nvSpPr>
        <p:spPr>
          <a:xfrm>
            <a:off x="6210146" y="3337560"/>
            <a:ext cx="2556433" cy="2377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0146" y="3337560"/>
            <a:ext cx="2556433" cy="10972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3026" y="3566160"/>
            <a:ext cx="2190673" cy="2011680"/>
          </a:xfrm>
          <a:prstGeom prst="rect">
            <a:avLst/>
          </a:prstGeom>
          <a:noFill/>
        </p:spPr>
        <p:txBody>
          <a:bodyPr wrap="square" anchor="ctr">
            <a:spAutoFit/>
          </a:bodyPr>
          <a:lstStyle/>
          <a:p>
            <a:pPr algn="l"/>
            <a:r>
              <a:rPr sz="2000" b="0">
                <a:solidFill>
                  <a:srgbClr val="222B27"/>
                </a:solidFill>
                <a:latin typeface="Calibri"/>
              </a:rPr>
              <a:t>Un organisme</a:t>
            </a:r>
          </a:p>
        </p:txBody>
      </p:sp>
      <p:sp>
        <p:nvSpPr>
          <p:cNvPr id="15" name="Rounded Rectangle 14"/>
          <p:cNvSpPr/>
          <p:nvPr/>
        </p:nvSpPr>
        <p:spPr>
          <a:xfrm>
            <a:off x="8995179" y="3337560"/>
            <a:ext cx="2556433" cy="2377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95179" y="3337560"/>
            <a:ext cx="2556433" cy="10972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8059" y="3566160"/>
            <a:ext cx="2190673" cy="2011680"/>
          </a:xfrm>
          <a:prstGeom prst="rect">
            <a:avLst/>
          </a:prstGeom>
          <a:noFill/>
        </p:spPr>
        <p:txBody>
          <a:bodyPr wrap="square" anchor="ctr">
            <a:spAutoFit/>
          </a:bodyPr>
          <a:lstStyle/>
          <a:p>
            <a:pPr algn="l"/>
            <a:r>
              <a:rPr sz="2000" b="0">
                <a:solidFill>
                  <a:srgbClr val="222B27"/>
                </a:solidFill>
                <a:latin typeface="Calibri"/>
              </a:rPr>
              <a:t>Ce qu’on a entendu hier : les initiatives existent, le réseau manque.</a:t>
            </a:r>
          </a:p>
        </p:txBody>
      </p:sp>
      <p:sp>
        <p:nvSpPr>
          <p:cNvPr id="18" name="TextBox 17"/>
          <p:cNvSpPr txBox="1"/>
          <p:nvPr/>
        </p:nvSpPr>
        <p:spPr>
          <a:xfrm>
            <a:off x="640080" y="6400800"/>
            <a:ext cx="7315200" cy="320040"/>
          </a:xfrm>
          <a:prstGeom prst="rect">
            <a:avLst/>
          </a:prstGeom>
          <a:noFill/>
        </p:spPr>
        <p:txBody>
          <a:bodyPr wrap="square" anchor="t">
            <a:spAutoFit/>
          </a:bodyPr>
          <a:lstStyle/>
          <a:p>
            <a:pPr algn="l"/>
            <a:r>
              <a:rPr sz="1200" b="0">
                <a:solidFill>
                  <a:srgbClr val="1F5F4A"/>
                </a:solidFill>
                <a:latin typeface="Calibri"/>
              </a:rPr>
              <a:t>Équipe 14 · Maillage</a:t>
            </a:r>
          </a:p>
        </p:txBody>
      </p:sp>
      <p:sp>
        <p:nvSpPr>
          <p:cNvPr id="19" name="TextBox 18"/>
          <p:cNvSpPr txBox="1"/>
          <p:nvPr/>
        </p:nvSpPr>
        <p:spPr>
          <a:xfrm>
            <a:off x="10637215" y="6400800"/>
            <a:ext cx="914400" cy="320040"/>
          </a:xfrm>
          <a:prstGeom prst="rect">
            <a:avLst/>
          </a:prstGeom>
          <a:noFill/>
        </p:spPr>
        <p:txBody>
          <a:bodyPr wrap="square" anchor="t">
            <a:spAutoFit/>
          </a:bodyPr>
          <a:lstStyle/>
          <a:p>
            <a:pPr algn="r"/>
            <a:r>
              <a:rPr sz="1200" b="0">
                <a:solidFill>
                  <a:srgbClr val="1F5F4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1F5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
            <a:ext cx="10911535" cy="960120"/>
          </a:xfrm>
          <a:prstGeom prst="rect">
            <a:avLst/>
          </a:prstGeom>
          <a:noFill/>
        </p:spPr>
        <p:txBody>
          <a:bodyPr wrap="square" anchor="ctr">
            <a:spAutoFit/>
          </a:bodyPr>
          <a:lstStyle/>
          <a:p>
            <a:pPr algn="l"/>
            <a:r>
              <a:rPr sz="4000" b="1">
                <a:solidFill>
                  <a:srgbClr val="FFFFFF"/>
                </a:solidFill>
                <a:latin typeface="Calibri"/>
              </a:rPr>
              <a:t>La solution : Maillage</a:t>
            </a:r>
          </a:p>
        </p:txBody>
      </p:sp>
      <p:sp>
        <p:nvSpPr>
          <p:cNvPr id="4" name="Rectangle 3"/>
          <p:cNvSpPr/>
          <p:nvPr/>
        </p:nvSpPr>
        <p:spPr>
          <a:xfrm>
            <a:off x="0" y="1325880"/>
            <a:ext cx="12191695" cy="640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6309360" cy="1371600"/>
          </a:xfrm>
          <a:prstGeom prst="rect">
            <a:avLst/>
          </a:prstGeom>
          <a:noFill/>
        </p:spPr>
        <p:txBody>
          <a:bodyPr wrap="square" anchor="t">
            <a:spAutoFit/>
          </a:bodyPr>
          <a:lstStyle/>
          <a:p>
            <a:pPr algn="l"/>
            <a:r>
              <a:rPr sz="3000" b="1">
                <a:solidFill>
                  <a:srgbClr val="222B27"/>
                </a:solidFill>
                <a:latin typeface="Calibri"/>
              </a:rPr>
              <a:t>Maillage ne remplace aucun outil existant : il crée le lien qui manque.</a:t>
            </a:r>
          </a:p>
        </p:txBody>
      </p:sp>
      <p:pic>
        <p:nvPicPr>
          <p:cNvPr id="6" name="Picture 5" descr="slide-3.png"/>
          <p:cNvPicPr>
            <a:picLocks noChangeAspect="1"/>
          </p:cNvPicPr>
          <p:nvPr/>
        </p:nvPicPr>
        <p:blipFill>
          <a:blip r:embed="rId2"/>
          <a:stretch>
            <a:fillRect/>
          </a:stretch>
        </p:blipFill>
        <p:spPr>
          <a:xfrm>
            <a:off x="8439403" y="1691640"/>
            <a:ext cx="2049274" cy="4434840"/>
          </a:xfrm>
          <a:prstGeom prst="rect">
            <a:avLst/>
          </a:prstGeom>
        </p:spPr>
      </p:pic>
      <p:sp>
        <p:nvSpPr>
          <p:cNvPr id="7" name="TextBox 6"/>
          <p:cNvSpPr txBox="1"/>
          <p:nvPr/>
        </p:nvSpPr>
        <p:spPr>
          <a:xfrm>
            <a:off x="640080" y="6400800"/>
            <a:ext cx="7315200" cy="320040"/>
          </a:xfrm>
          <a:prstGeom prst="rect">
            <a:avLst/>
          </a:prstGeom>
          <a:noFill/>
        </p:spPr>
        <p:txBody>
          <a:bodyPr wrap="square" anchor="t">
            <a:spAutoFit/>
          </a:bodyPr>
          <a:lstStyle/>
          <a:p>
            <a:pPr algn="l"/>
            <a:r>
              <a:rPr sz="1200" b="0">
                <a:solidFill>
                  <a:srgbClr val="1F5F4A"/>
                </a:solidFill>
                <a:latin typeface="Calibri"/>
              </a:rPr>
              <a:t>Équipe 14 · Maillage  ·  Fond de carte : © OpenStreetMap, OpenFreeMap</a:t>
            </a:r>
          </a:p>
        </p:txBody>
      </p:sp>
      <p:sp>
        <p:nvSpPr>
          <p:cNvPr id="8" name="TextBox 7"/>
          <p:cNvSpPr txBox="1"/>
          <p:nvPr/>
        </p:nvSpPr>
        <p:spPr>
          <a:xfrm>
            <a:off x="10637215" y="6400800"/>
            <a:ext cx="914400" cy="320040"/>
          </a:xfrm>
          <a:prstGeom prst="rect">
            <a:avLst/>
          </a:prstGeom>
          <a:noFill/>
        </p:spPr>
        <p:txBody>
          <a:bodyPr wrap="square" anchor="t">
            <a:spAutoFit/>
          </a:bodyPr>
          <a:lstStyle/>
          <a:p>
            <a:pPr algn="r"/>
            <a:r>
              <a:rPr sz="1200" b="0">
                <a:solidFill>
                  <a:srgbClr val="1F5F4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1F5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
            <a:ext cx="10911535" cy="960120"/>
          </a:xfrm>
          <a:prstGeom prst="rect">
            <a:avLst/>
          </a:prstGeom>
          <a:noFill/>
        </p:spPr>
        <p:txBody>
          <a:bodyPr wrap="square" anchor="ctr">
            <a:spAutoFit/>
          </a:bodyPr>
          <a:lstStyle/>
          <a:p>
            <a:pPr algn="l"/>
            <a:r>
              <a:rPr sz="4000" b="1">
                <a:solidFill>
                  <a:srgbClr val="FFFFFF"/>
                </a:solidFill>
                <a:latin typeface="Calibri"/>
              </a:rPr>
              <a:t>Technologies, outils et données utilisés</a:t>
            </a:r>
          </a:p>
        </p:txBody>
      </p:sp>
      <p:sp>
        <p:nvSpPr>
          <p:cNvPr id="4" name="Rectangle 3"/>
          <p:cNvSpPr/>
          <p:nvPr/>
        </p:nvSpPr>
        <p:spPr>
          <a:xfrm>
            <a:off x="0" y="1325880"/>
            <a:ext cx="12191695" cy="640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6309360" cy="1371600"/>
          </a:xfrm>
          <a:prstGeom prst="rect">
            <a:avLst/>
          </a:prstGeom>
          <a:noFill/>
        </p:spPr>
        <p:txBody>
          <a:bodyPr wrap="square" anchor="t">
            <a:spAutoFit/>
          </a:bodyPr>
          <a:lstStyle/>
          <a:p>
            <a:pPr algn="l"/>
            <a:r>
              <a:rPr sz="3000" b="1">
                <a:solidFill>
                  <a:srgbClr val="222B27"/>
                </a:solidFill>
                <a:latin typeface="Calibri"/>
              </a:rPr>
              <a:t>Personne ne commence avec une page blanche.</a:t>
            </a:r>
          </a:p>
        </p:txBody>
      </p:sp>
      <p:sp>
        <p:nvSpPr>
          <p:cNvPr id="6" name="Rounded Rectangle 5"/>
          <p:cNvSpPr/>
          <p:nvPr/>
        </p:nvSpPr>
        <p:spPr>
          <a:xfrm>
            <a:off x="640080" y="3337560"/>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337560"/>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5943600" cy="448056"/>
          </a:xfrm>
          <a:prstGeom prst="rect">
            <a:avLst/>
          </a:prstGeom>
          <a:noFill/>
        </p:spPr>
        <p:txBody>
          <a:bodyPr wrap="square" anchor="ctr">
            <a:spAutoFit/>
          </a:bodyPr>
          <a:lstStyle/>
          <a:p>
            <a:pPr algn="l"/>
            <a:r>
              <a:rPr sz="2000" b="0">
                <a:solidFill>
                  <a:srgbClr val="222B27"/>
                </a:solidFill>
                <a:latin typeface="Calibri"/>
              </a:rPr>
              <a:t>React, Vite, TypeScript, MapLibre, GitHub Pages, Claude Code</a:t>
            </a:r>
          </a:p>
        </p:txBody>
      </p:sp>
      <p:sp>
        <p:nvSpPr>
          <p:cNvPr id="9" name="Rounded Rectangle 8"/>
          <p:cNvSpPr/>
          <p:nvPr/>
        </p:nvSpPr>
        <p:spPr>
          <a:xfrm>
            <a:off x="640080" y="3895344"/>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895344"/>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95344"/>
            <a:ext cx="5943600" cy="448056"/>
          </a:xfrm>
          <a:prstGeom prst="rect">
            <a:avLst/>
          </a:prstGeom>
          <a:noFill/>
        </p:spPr>
        <p:txBody>
          <a:bodyPr wrap="square" anchor="ctr">
            <a:spAutoFit/>
          </a:bodyPr>
          <a:lstStyle/>
          <a:p>
            <a:pPr algn="l"/>
            <a:r>
              <a:rPr sz="2000" b="0">
                <a:solidFill>
                  <a:srgbClr val="222B27"/>
                </a:solidFill>
                <a:latin typeface="Calibri"/>
              </a:rPr>
              <a:t>386 membres (fichier fourni par la SDC)</a:t>
            </a:r>
          </a:p>
        </p:txBody>
      </p:sp>
      <p:sp>
        <p:nvSpPr>
          <p:cNvPr id="12" name="Rounded Rectangle 11"/>
          <p:cNvSpPr/>
          <p:nvPr/>
        </p:nvSpPr>
        <p:spPr>
          <a:xfrm>
            <a:off x="640080" y="4453128"/>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453128"/>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53128"/>
            <a:ext cx="5943600" cy="448056"/>
          </a:xfrm>
          <a:prstGeom prst="rect">
            <a:avLst/>
          </a:prstGeom>
          <a:noFill/>
        </p:spPr>
        <p:txBody>
          <a:bodyPr wrap="square" anchor="ctr">
            <a:spAutoFit/>
          </a:bodyPr>
          <a:lstStyle/>
          <a:p>
            <a:pPr algn="l"/>
            <a:r>
              <a:rPr sz="2000" b="0">
                <a:solidFill>
                  <a:srgbClr val="222B27"/>
                </a:solidFill>
                <a:latin typeface="Calibri"/>
              </a:rPr>
              <a:t>614 organismes reconnus (toute la ville)</a:t>
            </a:r>
          </a:p>
        </p:txBody>
      </p:sp>
      <p:sp>
        <p:nvSpPr>
          <p:cNvPr id="15" name="Rounded Rectangle 14"/>
          <p:cNvSpPr/>
          <p:nvPr/>
        </p:nvSpPr>
        <p:spPr>
          <a:xfrm>
            <a:off x="640080" y="5010912"/>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010912"/>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10912"/>
            <a:ext cx="5943600" cy="448056"/>
          </a:xfrm>
          <a:prstGeom prst="rect">
            <a:avLst/>
          </a:prstGeom>
          <a:noFill/>
        </p:spPr>
        <p:txBody>
          <a:bodyPr wrap="square" anchor="ctr">
            <a:spAutoFit/>
          </a:bodyPr>
          <a:lstStyle/>
          <a:p>
            <a:pPr algn="l"/>
            <a:r>
              <a:rPr sz="2000" b="0">
                <a:solidFill>
                  <a:srgbClr val="222B27"/>
                </a:solidFill>
                <a:latin typeface="Calibri"/>
              </a:rPr>
              <a:t>Données Québec, CC BY 4.0</a:t>
            </a:r>
          </a:p>
        </p:txBody>
      </p:sp>
      <p:sp>
        <p:nvSpPr>
          <p:cNvPr id="18" name="Rounded Rectangle 17"/>
          <p:cNvSpPr/>
          <p:nvPr/>
        </p:nvSpPr>
        <p:spPr>
          <a:xfrm>
            <a:off x="640080" y="5568696"/>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5568696"/>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568696"/>
            <a:ext cx="5943600" cy="448056"/>
          </a:xfrm>
          <a:prstGeom prst="rect">
            <a:avLst/>
          </a:prstGeom>
          <a:noFill/>
        </p:spPr>
        <p:txBody>
          <a:bodyPr wrap="square" anchor="ctr">
            <a:spAutoFit/>
          </a:bodyPr>
          <a:lstStyle/>
          <a:p>
            <a:pPr algn="l"/>
            <a:r>
              <a:rPr sz="2000" b="0">
                <a:solidFill>
                  <a:srgbClr val="222B27"/>
                </a:solidFill>
                <a:latin typeface="Calibri"/>
              </a:rPr>
              <a:t>Loi 25 : publique après consentement</a:t>
            </a:r>
          </a:p>
        </p:txBody>
      </p:sp>
      <p:pic>
        <p:nvPicPr>
          <p:cNvPr id="21" name="Picture 20" descr="slide-4.png"/>
          <p:cNvPicPr>
            <a:picLocks noChangeAspect="1"/>
          </p:cNvPicPr>
          <p:nvPr/>
        </p:nvPicPr>
        <p:blipFill>
          <a:blip r:embed="rId2"/>
          <a:stretch>
            <a:fillRect/>
          </a:stretch>
        </p:blipFill>
        <p:spPr>
          <a:xfrm>
            <a:off x="8439403" y="1691640"/>
            <a:ext cx="2049274" cy="4434840"/>
          </a:xfrm>
          <a:prstGeom prst="rect">
            <a:avLst/>
          </a:prstGeom>
        </p:spPr>
      </p:pic>
      <p:sp>
        <p:nvSpPr>
          <p:cNvPr id="22" name="TextBox 21"/>
          <p:cNvSpPr txBox="1"/>
          <p:nvPr/>
        </p:nvSpPr>
        <p:spPr>
          <a:xfrm>
            <a:off x="640080" y="6400800"/>
            <a:ext cx="7315200" cy="320040"/>
          </a:xfrm>
          <a:prstGeom prst="rect">
            <a:avLst/>
          </a:prstGeom>
          <a:noFill/>
        </p:spPr>
        <p:txBody>
          <a:bodyPr wrap="square" anchor="t">
            <a:spAutoFit/>
          </a:bodyPr>
          <a:lstStyle/>
          <a:p>
            <a:pPr algn="l"/>
            <a:r>
              <a:rPr sz="1200" b="0">
                <a:solidFill>
                  <a:srgbClr val="1F5F4A"/>
                </a:solidFill>
                <a:latin typeface="Calibri"/>
              </a:rPr>
              <a:t>Équipe 14 · Maillage  ·  Fond de carte : © OpenStreetMap, OpenFreeMap</a:t>
            </a:r>
          </a:p>
        </p:txBody>
      </p:sp>
      <p:sp>
        <p:nvSpPr>
          <p:cNvPr id="23" name="TextBox 22"/>
          <p:cNvSpPr txBox="1"/>
          <p:nvPr/>
        </p:nvSpPr>
        <p:spPr>
          <a:xfrm>
            <a:off x="10637215" y="6400800"/>
            <a:ext cx="914400" cy="320040"/>
          </a:xfrm>
          <a:prstGeom prst="rect">
            <a:avLst/>
          </a:prstGeom>
          <a:noFill/>
        </p:spPr>
        <p:txBody>
          <a:bodyPr wrap="square" anchor="t">
            <a:spAutoFit/>
          </a:bodyPr>
          <a:lstStyle/>
          <a:p>
            <a:pPr algn="r"/>
            <a:r>
              <a:rPr sz="1200" b="0">
                <a:solidFill>
                  <a:srgbClr val="1F5F4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1F5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
            <a:ext cx="10911535" cy="960120"/>
          </a:xfrm>
          <a:prstGeom prst="rect">
            <a:avLst/>
          </a:prstGeom>
          <a:noFill/>
        </p:spPr>
        <p:txBody>
          <a:bodyPr wrap="square" anchor="ctr">
            <a:spAutoFit/>
          </a:bodyPr>
          <a:lstStyle/>
          <a:p>
            <a:pPr algn="l"/>
            <a:r>
              <a:rPr sz="4000" b="1">
                <a:solidFill>
                  <a:srgbClr val="FFFFFF"/>
                </a:solidFill>
                <a:latin typeface="Calibri"/>
              </a:rPr>
              <a:t>Transparence : un moteur de règles, l’IA en phase 2</a:t>
            </a:r>
          </a:p>
        </p:txBody>
      </p:sp>
      <p:sp>
        <p:nvSpPr>
          <p:cNvPr id="4" name="Rectangle 3"/>
          <p:cNvSpPr/>
          <p:nvPr/>
        </p:nvSpPr>
        <p:spPr>
          <a:xfrm>
            <a:off x="0" y="1325880"/>
            <a:ext cx="12191695" cy="640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6309360" cy="1371600"/>
          </a:xfrm>
          <a:prstGeom prst="rect">
            <a:avLst/>
          </a:prstGeom>
          <a:noFill/>
        </p:spPr>
        <p:txBody>
          <a:bodyPr wrap="square" anchor="t">
            <a:spAutoFit/>
          </a:bodyPr>
          <a:lstStyle/>
          <a:p>
            <a:pPr algn="l"/>
            <a:r>
              <a:rPr sz="3000" b="1">
                <a:solidFill>
                  <a:srgbClr val="222B27"/>
                </a:solidFill>
                <a:latin typeface="Calibri"/>
              </a:rPr>
              <a:t>On l’a testée, on a choisi des règles pour que chaque suggestion s’explique.</a:t>
            </a:r>
          </a:p>
        </p:txBody>
      </p:sp>
      <p:sp>
        <p:nvSpPr>
          <p:cNvPr id="6" name="Rounded Rectangle 5"/>
          <p:cNvSpPr/>
          <p:nvPr/>
        </p:nvSpPr>
        <p:spPr>
          <a:xfrm>
            <a:off x="640080" y="3337560"/>
            <a:ext cx="6309360" cy="81991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337560"/>
            <a:ext cx="109728" cy="81991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5943600" cy="819912"/>
          </a:xfrm>
          <a:prstGeom prst="rect">
            <a:avLst/>
          </a:prstGeom>
          <a:noFill/>
        </p:spPr>
        <p:txBody>
          <a:bodyPr wrap="square" anchor="ctr">
            <a:spAutoFit/>
          </a:bodyPr>
          <a:lstStyle/>
          <a:p>
            <a:pPr algn="l"/>
            <a:r>
              <a:rPr sz="2000" b="0">
                <a:solidFill>
                  <a:srgbClr val="222B27"/>
                </a:solidFill>
                <a:latin typeface="Calibri"/>
              </a:rPr>
              <a:t>Règles visibles</a:t>
            </a:r>
          </a:p>
        </p:txBody>
      </p:sp>
      <p:sp>
        <p:nvSpPr>
          <p:cNvPr id="9" name="Rounded Rectangle 8"/>
          <p:cNvSpPr/>
          <p:nvPr/>
        </p:nvSpPr>
        <p:spPr>
          <a:xfrm>
            <a:off x="640080" y="4267200"/>
            <a:ext cx="6309360" cy="81991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267200"/>
            <a:ext cx="109728" cy="81991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67200"/>
            <a:ext cx="5943600" cy="819912"/>
          </a:xfrm>
          <a:prstGeom prst="rect">
            <a:avLst/>
          </a:prstGeom>
          <a:noFill/>
        </p:spPr>
        <p:txBody>
          <a:bodyPr wrap="square" anchor="ctr">
            <a:spAutoFit/>
          </a:bodyPr>
          <a:lstStyle/>
          <a:p>
            <a:pPr algn="l"/>
            <a:r>
              <a:rPr sz="2000" b="0">
                <a:solidFill>
                  <a:srgbClr val="222B27"/>
                </a:solidFill>
                <a:latin typeface="Calibri"/>
              </a:rPr>
              <a:t>Score pondéré visible</a:t>
            </a:r>
          </a:p>
        </p:txBody>
      </p:sp>
      <p:sp>
        <p:nvSpPr>
          <p:cNvPr id="12" name="Rounded Rectangle 11"/>
          <p:cNvSpPr/>
          <p:nvPr/>
        </p:nvSpPr>
        <p:spPr>
          <a:xfrm>
            <a:off x="640080" y="5196840"/>
            <a:ext cx="6309360" cy="81991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196840"/>
            <a:ext cx="109728" cy="81991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96840"/>
            <a:ext cx="5943600" cy="819912"/>
          </a:xfrm>
          <a:prstGeom prst="rect">
            <a:avLst/>
          </a:prstGeom>
          <a:noFill/>
        </p:spPr>
        <p:txBody>
          <a:bodyPr wrap="square" anchor="ctr">
            <a:spAutoFit/>
          </a:bodyPr>
          <a:lstStyle/>
          <a:p>
            <a:pPr algn="l"/>
            <a:r>
              <a:rPr sz="2000" b="0">
                <a:solidFill>
                  <a:srgbClr val="222B27"/>
                </a:solidFill>
                <a:latin typeface="Calibri"/>
              </a:rPr>
              <a:t>IA phase 2 : toutes les langues, toutes les fautes</a:t>
            </a:r>
          </a:p>
        </p:txBody>
      </p:sp>
      <p:pic>
        <p:nvPicPr>
          <p:cNvPr id="15" name="Picture 14" descr="slide-5.png"/>
          <p:cNvPicPr>
            <a:picLocks noChangeAspect="1"/>
          </p:cNvPicPr>
          <p:nvPr/>
        </p:nvPicPr>
        <p:blipFill>
          <a:blip r:embed="rId2"/>
          <a:stretch>
            <a:fillRect/>
          </a:stretch>
        </p:blipFill>
        <p:spPr>
          <a:xfrm>
            <a:off x="8439403" y="1691640"/>
            <a:ext cx="2049274" cy="4434840"/>
          </a:xfrm>
          <a:prstGeom prst="rect">
            <a:avLst/>
          </a:prstGeom>
        </p:spPr>
      </p:pic>
      <p:sp>
        <p:nvSpPr>
          <p:cNvPr id="16" name="TextBox 15"/>
          <p:cNvSpPr txBox="1"/>
          <p:nvPr/>
        </p:nvSpPr>
        <p:spPr>
          <a:xfrm>
            <a:off x="640080" y="6400800"/>
            <a:ext cx="7315200" cy="320040"/>
          </a:xfrm>
          <a:prstGeom prst="rect">
            <a:avLst/>
          </a:prstGeom>
          <a:noFill/>
        </p:spPr>
        <p:txBody>
          <a:bodyPr wrap="square" anchor="t">
            <a:spAutoFit/>
          </a:bodyPr>
          <a:lstStyle/>
          <a:p>
            <a:pPr algn="l"/>
            <a:r>
              <a:rPr sz="1200" b="0">
                <a:solidFill>
                  <a:srgbClr val="1F5F4A"/>
                </a:solidFill>
                <a:latin typeface="Calibri"/>
              </a:rPr>
              <a:t>Équipe 14 · Maillage  ·  Fond de carte : © OpenStreetMap, OpenFreeMap</a:t>
            </a:r>
          </a:p>
        </p:txBody>
      </p:sp>
      <p:sp>
        <p:nvSpPr>
          <p:cNvPr id="17" name="TextBox 16"/>
          <p:cNvSpPr txBox="1"/>
          <p:nvPr/>
        </p:nvSpPr>
        <p:spPr>
          <a:xfrm>
            <a:off x="10637215" y="6400800"/>
            <a:ext cx="914400" cy="320040"/>
          </a:xfrm>
          <a:prstGeom prst="rect">
            <a:avLst/>
          </a:prstGeom>
          <a:noFill/>
        </p:spPr>
        <p:txBody>
          <a:bodyPr wrap="square" anchor="t">
            <a:spAutoFit/>
          </a:bodyPr>
          <a:lstStyle/>
          <a:p>
            <a:pPr algn="r"/>
            <a:r>
              <a:rPr sz="1200" b="0">
                <a:solidFill>
                  <a:srgbClr val="1F5F4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1F5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
            <a:ext cx="10911535" cy="960120"/>
          </a:xfrm>
          <a:prstGeom prst="rect">
            <a:avLst/>
          </a:prstGeom>
          <a:noFill/>
        </p:spPr>
        <p:txBody>
          <a:bodyPr wrap="square" anchor="ctr">
            <a:spAutoFit/>
          </a:bodyPr>
          <a:lstStyle/>
          <a:p>
            <a:pPr algn="l"/>
            <a:r>
              <a:rPr sz="4000" b="1">
                <a:solidFill>
                  <a:srgbClr val="FFFFFF"/>
                </a:solidFill>
                <a:latin typeface="Calibri"/>
              </a:rPr>
              <a:t>Impact et feuille de route</a:t>
            </a:r>
          </a:p>
        </p:txBody>
      </p:sp>
      <p:sp>
        <p:nvSpPr>
          <p:cNvPr id="4" name="Rectangle 3"/>
          <p:cNvSpPr/>
          <p:nvPr/>
        </p:nvSpPr>
        <p:spPr>
          <a:xfrm>
            <a:off x="0" y="1325880"/>
            <a:ext cx="12191695" cy="640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6309360" cy="1371600"/>
          </a:xfrm>
          <a:prstGeom prst="rect">
            <a:avLst/>
          </a:prstGeom>
          <a:noFill/>
        </p:spPr>
        <p:txBody>
          <a:bodyPr wrap="square" anchor="t">
            <a:spAutoFit/>
          </a:bodyPr>
          <a:lstStyle/>
          <a:p>
            <a:pPr algn="l"/>
            <a:r>
              <a:rPr sz="3000" b="1">
                <a:solidFill>
                  <a:srgbClr val="222B27"/>
                </a:solidFill>
                <a:latin typeface="Calibri"/>
              </a:rPr>
              <a:t>Un pilote avec la SDC, puis tout Saint-Roch.</a:t>
            </a:r>
          </a:p>
        </p:txBody>
      </p:sp>
      <p:sp>
        <p:nvSpPr>
          <p:cNvPr id="6" name="Rounded Rectangle 5"/>
          <p:cNvSpPr/>
          <p:nvPr/>
        </p:nvSpPr>
        <p:spPr>
          <a:xfrm>
            <a:off x="640080" y="3337560"/>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337560"/>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5943600" cy="448056"/>
          </a:xfrm>
          <a:prstGeom prst="rect">
            <a:avLst/>
          </a:prstGeom>
          <a:noFill/>
        </p:spPr>
        <p:txBody>
          <a:bodyPr wrap="square" anchor="ctr">
            <a:spAutoFit/>
          </a:bodyPr>
          <a:lstStyle/>
          <a:p>
            <a:pPr algn="l"/>
            <a:r>
              <a:rPr sz="2000" b="0">
                <a:solidFill>
                  <a:srgbClr val="222B27"/>
                </a:solidFill>
                <a:latin typeface="Calibri"/>
              </a:rPr>
              <a:t>Maintenant : démo simulée, fil en direct en option (Canada)</a:t>
            </a:r>
          </a:p>
        </p:txBody>
      </p:sp>
      <p:sp>
        <p:nvSpPr>
          <p:cNvPr id="9" name="Rounded Rectangle 8"/>
          <p:cNvSpPr/>
          <p:nvPr/>
        </p:nvSpPr>
        <p:spPr>
          <a:xfrm>
            <a:off x="640080" y="3895344"/>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895344"/>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95344"/>
            <a:ext cx="5943600" cy="448056"/>
          </a:xfrm>
          <a:prstGeom prst="rect">
            <a:avLst/>
          </a:prstGeom>
          <a:noFill/>
        </p:spPr>
        <p:txBody>
          <a:bodyPr wrap="square" anchor="ctr">
            <a:spAutoFit/>
          </a:bodyPr>
          <a:lstStyle/>
          <a:p>
            <a:pPr algn="l"/>
            <a:r>
              <a:rPr sz="2000" b="0">
                <a:solidFill>
                  <a:srgbClr val="222B27"/>
                </a:solidFill>
                <a:latin typeface="Calibri"/>
              </a:rPr>
              <a:t>Pilote : vraie invitation, fil partagé modéré par la SDC</a:t>
            </a:r>
          </a:p>
        </p:txBody>
      </p:sp>
      <p:sp>
        <p:nvSpPr>
          <p:cNvPr id="12" name="Rounded Rectangle 11"/>
          <p:cNvSpPr/>
          <p:nvPr/>
        </p:nvSpPr>
        <p:spPr>
          <a:xfrm>
            <a:off x="640080" y="4453128"/>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453128"/>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53128"/>
            <a:ext cx="5943600" cy="448056"/>
          </a:xfrm>
          <a:prstGeom prst="rect">
            <a:avLst/>
          </a:prstGeom>
          <a:noFill/>
        </p:spPr>
        <p:txBody>
          <a:bodyPr wrap="square" anchor="ctr">
            <a:spAutoFit/>
          </a:bodyPr>
          <a:lstStyle/>
          <a:p>
            <a:pPr algn="l"/>
            <a:r>
              <a:rPr sz="2000" b="0">
                <a:solidFill>
                  <a:srgbClr val="222B27"/>
                </a:solidFill>
                <a:latin typeface="Calibri"/>
              </a:rPr>
              <a:t>Plus tard : IA, autres quartiers</a:t>
            </a:r>
          </a:p>
        </p:txBody>
      </p:sp>
      <p:sp>
        <p:nvSpPr>
          <p:cNvPr id="15" name="Rounded Rectangle 14"/>
          <p:cNvSpPr/>
          <p:nvPr/>
        </p:nvSpPr>
        <p:spPr>
          <a:xfrm>
            <a:off x="640080" y="5010912"/>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010912"/>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10912"/>
            <a:ext cx="5943600" cy="448056"/>
          </a:xfrm>
          <a:prstGeom prst="rect">
            <a:avLst/>
          </a:prstGeom>
          <a:noFill/>
        </p:spPr>
        <p:txBody>
          <a:bodyPr wrap="square" anchor="ctr">
            <a:spAutoFit/>
          </a:bodyPr>
          <a:lstStyle/>
          <a:p>
            <a:pPr algn="l"/>
            <a:r>
              <a:rPr sz="2000" b="0">
                <a:solidFill>
                  <a:srgbClr val="222B27"/>
                </a:solidFill>
                <a:latin typeface="Calibri"/>
              </a:rPr>
              <a:t>Ce qu’on demande à la SDC : dix membres volontaires, un trimestre, une personne à temps partiel</a:t>
            </a:r>
          </a:p>
        </p:txBody>
      </p:sp>
      <p:sp>
        <p:nvSpPr>
          <p:cNvPr id="18" name="Rounded Rectangle 17"/>
          <p:cNvSpPr/>
          <p:nvPr/>
        </p:nvSpPr>
        <p:spPr>
          <a:xfrm>
            <a:off x="640080" y="5568696"/>
            <a:ext cx="6309360" cy="44805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5568696"/>
            <a:ext cx="109728" cy="44805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568696"/>
            <a:ext cx="5943600" cy="448056"/>
          </a:xfrm>
          <a:prstGeom prst="rect">
            <a:avLst/>
          </a:prstGeom>
          <a:noFill/>
        </p:spPr>
        <p:txBody>
          <a:bodyPr wrap="square" anchor="ctr">
            <a:spAutoFit/>
          </a:bodyPr>
          <a:lstStyle/>
          <a:p>
            <a:pPr algn="l"/>
            <a:r>
              <a:rPr sz="2000" b="0">
                <a:solidFill>
                  <a:srgbClr val="222B27"/>
                </a:solidFill>
                <a:latin typeface="Calibri"/>
              </a:rPr>
              <a:t>trois mesures</a:t>
            </a:r>
          </a:p>
        </p:txBody>
      </p:sp>
      <p:pic>
        <p:nvPicPr>
          <p:cNvPr id="21" name="Picture 20" descr="slide-6.png"/>
          <p:cNvPicPr>
            <a:picLocks noChangeAspect="1"/>
          </p:cNvPicPr>
          <p:nvPr/>
        </p:nvPicPr>
        <p:blipFill>
          <a:blip r:embed="rId2"/>
          <a:stretch>
            <a:fillRect/>
          </a:stretch>
        </p:blipFill>
        <p:spPr>
          <a:xfrm>
            <a:off x="8439403" y="1691640"/>
            <a:ext cx="2049274" cy="4434840"/>
          </a:xfrm>
          <a:prstGeom prst="rect">
            <a:avLst/>
          </a:prstGeom>
        </p:spPr>
      </p:pic>
      <p:sp>
        <p:nvSpPr>
          <p:cNvPr id="22" name="TextBox 21"/>
          <p:cNvSpPr txBox="1"/>
          <p:nvPr/>
        </p:nvSpPr>
        <p:spPr>
          <a:xfrm>
            <a:off x="640080" y="6400800"/>
            <a:ext cx="7315200" cy="320040"/>
          </a:xfrm>
          <a:prstGeom prst="rect">
            <a:avLst/>
          </a:prstGeom>
          <a:noFill/>
        </p:spPr>
        <p:txBody>
          <a:bodyPr wrap="square" anchor="t">
            <a:spAutoFit/>
          </a:bodyPr>
          <a:lstStyle/>
          <a:p>
            <a:pPr algn="l"/>
            <a:r>
              <a:rPr sz="1200" b="0">
                <a:solidFill>
                  <a:srgbClr val="1F5F4A"/>
                </a:solidFill>
                <a:latin typeface="Calibri"/>
              </a:rPr>
              <a:t>Équipe 14 · Maillage  ·  Fond de carte : © OpenStreetMap, OpenFreeMap</a:t>
            </a:r>
          </a:p>
        </p:txBody>
      </p:sp>
      <p:sp>
        <p:nvSpPr>
          <p:cNvPr id="23" name="TextBox 22"/>
          <p:cNvSpPr txBox="1"/>
          <p:nvPr/>
        </p:nvSpPr>
        <p:spPr>
          <a:xfrm>
            <a:off x="10637215" y="6400800"/>
            <a:ext cx="914400" cy="320040"/>
          </a:xfrm>
          <a:prstGeom prst="rect">
            <a:avLst/>
          </a:prstGeom>
          <a:noFill/>
        </p:spPr>
        <p:txBody>
          <a:bodyPr wrap="square" anchor="t">
            <a:spAutoFit/>
          </a:bodyPr>
          <a:lstStyle/>
          <a:p>
            <a:pPr algn="r"/>
            <a:r>
              <a:rPr sz="1200" b="0">
                <a:solidFill>
                  <a:srgbClr val="1F5F4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2191695" cy="1325880"/>
          </a:xfrm>
          <a:prstGeom prst="rect">
            <a:avLst/>
          </a:prstGeom>
          <a:solidFill>
            <a:srgbClr val="1F5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
            <a:ext cx="10911535" cy="960120"/>
          </a:xfrm>
          <a:prstGeom prst="rect">
            <a:avLst/>
          </a:prstGeom>
          <a:noFill/>
        </p:spPr>
        <p:txBody>
          <a:bodyPr wrap="square" anchor="ctr">
            <a:spAutoFit/>
          </a:bodyPr>
          <a:lstStyle/>
          <a:p>
            <a:pPr algn="l"/>
            <a:r>
              <a:rPr sz="4000" b="1">
                <a:solidFill>
                  <a:srgbClr val="FFFFFF"/>
                </a:solidFill>
                <a:latin typeface="Calibri"/>
              </a:rPr>
              <a:t>Conclusion</a:t>
            </a:r>
          </a:p>
        </p:txBody>
      </p:sp>
      <p:sp>
        <p:nvSpPr>
          <p:cNvPr id="4" name="Rectangle 3"/>
          <p:cNvSpPr/>
          <p:nvPr/>
        </p:nvSpPr>
        <p:spPr>
          <a:xfrm>
            <a:off x="0" y="1325880"/>
            <a:ext cx="12191695" cy="640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6309360" cy="1371600"/>
          </a:xfrm>
          <a:prstGeom prst="rect">
            <a:avLst/>
          </a:prstGeom>
          <a:noFill/>
        </p:spPr>
        <p:txBody>
          <a:bodyPr wrap="square" anchor="t">
            <a:spAutoFit/>
          </a:bodyPr>
          <a:lstStyle/>
          <a:p>
            <a:pPr algn="l"/>
            <a:r>
              <a:rPr sz="3000" b="1">
                <a:solidFill>
                  <a:srgbClr val="222B27"/>
                </a:solidFill>
                <a:latin typeface="Calibri"/>
              </a:rPr>
              <a:t>Saint-Roch a déjà tout ce qu’il faut. Maillage aide ses voisins à se trouver.</a:t>
            </a:r>
          </a:p>
        </p:txBody>
      </p:sp>
      <p:sp>
        <p:nvSpPr>
          <p:cNvPr id="6" name="Rounded Rectangle 5"/>
          <p:cNvSpPr/>
          <p:nvPr/>
        </p:nvSpPr>
        <p:spPr>
          <a:xfrm>
            <a:off x="640080" y="3337560"/>
            <a:ext cx="6309360" cy="81991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337560"/>
            <a:ext cx="109728" cy="81991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5943600" cy="819912"/>
          </a:xfrm>
          <a:prstGeom prst="rect">
            <a:avLst/>
          </a:prstGeom>
          <a:noFill/>
        </p:spPr>
        <p:txBody>
          <a:bodyPr wrap="square" anchor="ctr">
            <a:spAutoFit/>
          </a:bodyPr>
          <a:lstStyle/>
          <a:p>
            <a:pPr algn="l"/>
            <a:r>
              <a:rPr sz="2000" b="0">
                <a:solidFill>
                  <a:srgbClr val="222B27"/>
                </a:solidFill>
                <a:latin typeface="Calibri"/>
              </a:rPr>
              <a:t>cianthiffault2006-png.github.io/hackathon-saint-roch-2026</a:t>
            </a:r>
          </a:p>
        </p:txBody>
      </p:sp>
      <p:sp>
        <p:nvSpPr>
          <p:cNvPr id="9" name="Rounded Rectangle 8"/>
          <p:cNvSpPr/>
          <p:nvPr/>
        </p:nvSpPr>
        <p:spPr>
          <a:xfrm>
            <a:off x="640080" y="4267200"/>
            <a:ext cx="6309360" cy="81991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267200"/>
            <a:ext cx="109728" cy="81991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67200"/>
            <a:ext cx="5943600" cy="819912"/>
          </a:xfrm>
          <a:prstGeom prst="rect">
            <a:avLst/>
          </a:prstGeom>
          <a:noFill/>
        </p:spPr>
        <p:txBody>
          <a:bodyPr wrap="square" anchor="ctr">
            <a:spAutoFit/>
          </a:bodyPr>
          <a:lstStyle/>
          <a:p>
            <a:pPr algn="l"/>
            <a:r>
              <a:rPr sz="2000" b="0">
                <a:solidFill>
                  <a:srgbClr val="222B27"/>
                </a:solidFill>
                <a:latin typeface="Calibri"/>
              </a:rPr>
              <a:t>Outils d’IA : Claude Code et Claude</a:t>
            </a:r>
          </a:p>
        </p:txBody>
      </p:sp>
      <p:sp>
        <p:nvSpPr>
          <p:cNvPr id="12" name="Rounded Rectangle 11"/>
          <p:cNvSpPr/>
          <p:nvPr/>
        </p:nvSpPr>
        <p:spPr>
          <a:xfrm>
            <a:off x="640080" y="5196840"/>
            <a:ext cx="6309360" cy="81991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196840"/>
            <a:ext cx="109728" cy="819912"/>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96840"/>
            <a:ext cx="5943600" cy="819912"/>
          </a:xfrm>
          <a:prstGeom prst="rect">
            <a:avLst/>
          </a:prstGeom>
          <a:noFill/>
        </p:spPr>
        <p:txBody>
          <a:bodyPr wrap="square" anchor="ctr">
            <a:spAutoFit/>
          </a:bodyPr>
          <a:lstStyle/>
          <a:p>
            <a:pPr algn="l"/>
            <a:r>
              <a:rPr sz="2000" b="0">
                <a:solidFill>
                  <a:srgbClr val="222B27"/>
                </a:solidFill>
                <a:latin typeface="Calibri"/>
              </a:rPr>
              <a:t>fait par l’équipe : cadrage, données, conception, tests, présentation</a:t>
            </a:r>
          </a:p>
        </p:txBody>
      </p:sp>
      <p:pic>
        <p:nvPicPr>
          <p:cNvPr id="15" name="Picture 14" descr="slide-7.png"/>
          <p:cNvPicPr>
            <a:picLocks noChangeAspect="1"/>
          </p:cNvPicPr>
          <p:nvPr/>
        </p:nvPicPr>
        <p:blipFill>
          <a:blip r:embed="rId2"/>
          <a:stretch>
            <a:fillRect/>
          </a:stretch>
        </p:blipFill>
        <p:spPr>
          <a:xfrm>
            <a:off x="7315200" y="1760220"/>
            <a:ext cx="4297680" cy="4297680"/>
          </a:xfrm>
          <a:prstGeom prst="rect">
            <a:avLst/>
          </a:prstGeom>
        </p:spPr>
      </p:pic>
      <p:sp>
        <p:nvSpPr>
          <p:cNvPr id="16" name="TextBox 15"/>
          <p:cNvSpPr txBox="1"/>
          <p:nvPr/>
        </p:nvSpPr>
        <p:spPr>
          <a:xfrm>
            <a:off x="640080" y="6400800"/>
            <a:ext cx="7315200" cy="320040"/>
          </a:xfrm>
          <a:prstGeom prst="rect">
            <a:avLst/>
          </a:prstGeom>
          <a:noFill/>
        </p:spPr>
        <p:txBody>
          <a:bodyPr wrap="square" anchor="t">
            <a:spAutoFit/>
          </a:bodyPr>
          <a:lstStyle/>
          <a:p>
            <a:pPr algn="l"/>
            <a:r>
              <a:rPr sz="1200" b="0">
                <a:solidFill>
                  <a:srgbClr val="1F5F4A"/>
                </a:solidFill>
                <a:latin typeface="Calibri"/>
              </a:rPr>
              <a:t>Équipe 14 · Maillage  ·  Fond de carte : © OpenStreetMap, OpenFreeMap</a:t>
            </a:r>
          </a:p>
        </p:txBody>
      </p:sp>
      <p:sp>
        <p:nvSpPr>
          <p:cNvPr id="17" name="TextBox 16"/>
          <p:cNvSpPr txBox="1"/>
          <p:nvPr/>
        </p:nvSpPr>
        <p:spPr>
          <a:xfrm>
            <a:off x="10637215" y="6400800"/>
            <a:ext cx="914400" cy="320040"/>
          </a:xfrm>
          <a:prstGeom prst="rect">
            <a:avLst/>
          </a:prstGeom>
          <a:noFill/>
        </p:spPr>
        <p:txBody>
          <a:bodyPr wrap="square" anchor="t">
            <a:spAutoFit/>
          </a:bodyPr>
          <a:lstStyle/>
          <a:p>
            <a:pPr algn="r"/>
            <a:r>
              <a:rPr sz="1200" b="0">
                <a:solidFill>
                  <a:srgbClr val="1F5F4A"/>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