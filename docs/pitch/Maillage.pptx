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Visuel : logo, carte de Saint-Roch, trois points qui se relient.</a:t>
            </a:r>
          </a:p>
          <a:p>
            <a:r>
              <a:t>Signal [COÉQUIPIÈRE] : lancer l’accroche, ne pas lire la diapo. (10 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Citation réelle, seulement si on en a une : remplacer la quatrième carte par « [CITATION RÉELLE ICI, sinon laisser la carte de repli] » avant l’export PDF de 12 h 30. Jamais de crochets sur une diapo projetée.</a:t>
            </a:r>
          </a:p>
          <a:p>
            <a:r>
              <a:t>Visuel : trois icônes isolées (café, artiste, organisme) à cinq minutes à pied.</a:t>
            </a:r>
          </a:p>
          <a:p>
            <a:r>
              <a:t>Carte « Ce qu’on a entendu » : par défaut la phrase de repli, vraie sans rien ajouter (dite jeudi 15 octobre par l’intervenant qui présentait le quartier); si un commerçant rencontré vendredi matin a donné une vraie citation, elle la remplace, telle quelle, sans nom si la personne ne l’a pas permis. Ne jamais inventer une citation.</a:t>
            </a:r>
          </a:p>
          <a:p>
            <a:r>
              <a:t>Signal [COÉQUIPIÈRE] : histoire de Mathieu (Café Le Petit Détour), de Camille Vézina et du Collectif Les Voisins en Scène. Finir par « Personne ne sait que les deux autres existent. » (30 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Visuel : capture de l’écran de proposition. Couleurs (notes) : le vert profond rassure et ancre l’app dans le quartier, l’orange invite à agir; chaque couleur respecte les contrastes d’accessibilité et les épingles combinent forme, icône et couleur pour les personnes daltoniennes (environ 8 % des hommes). Phrase complète à dire : « Maillage ne remplace aucun outil existant : il crée le lien qui manque entre ceux qui ont des ressources et ceux qui ont des projets. » Message de fond : une app mobile qui propose des projets à trois partenaires, sur la carte, avec les raisons.</a:t>
            </a:r>
          </a:p>
          <a:p>
            <a:r>
              <a:t>Signal [CIAN] : « Voyons comment ça marche », puis passer à l’app : coller la phrase « On a un espace libre le jeudi soir et on cherche des artistes pour l’animer », 87 % avec Camille Vézina et le Collectif Les Voisins en Scène, dire la réciprocité, toucher « Comment ce score » et dire la ligne « Réciprocité 58 % », puis « Voir ce que Camille reçoit » et « Accepter ». Si l’app plante : Visite guidée, chapitres 1 à 4 seulement (environ 73 s; la visite complète dure 2 min), puis « Quitter la visite ». (1 min 45 s avec la démo)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Contenu en trois colonnes :</a:t>
            </a:r>
          </a:p>
          <a:p>
            <a:r>
              <a:t>- Technologies : Vite, React, TypeScript, MapLibre GL JS.</a:t>
            </a:r>
          </a:p>
          <a:p>
            <a:r>
              <a:t>- Outils et plateformes : OpenFreeMap et OpenStreetMap (fond de carte), GitHub Pages (hébergement; Vercel en secours), GitHub (code), Claude Code comme assistant de développement.</a:t>
            </a:r>
          </a:p>
          <a:p>
            <a:r>
              <a:t>- Données : Données Québec, données ouvertes de la Ville de Québec et du SIT Québec (CC BY 4.0, attribution dans l’app). Fichiers fournis confidentiels : structure et nombre de lignes seulement, remplacés par des profils fictifs dans la démo. Les nombres sont des totaux de lignes : « les 386 membres du fichier fourni par la SDC », « 614 organismes reconnus à l’échelle de la ville » (jamais « dans Saint-Roch » pour un fichier de toute la ville).</a:t>
            </a:r>
          </a:p>
          <a:p>
            <a:r>
              <a:t>Signal [CIAN] : dire « Maillage part des répertoires qui existent déjà : les 386 membres du fichier fourni par la SDC, et 614 organismes reconnus à l’échelle de la ville. Personne ne commence avec une page blanche. » Puis la Loi 25 : « Pour la Loi 25, le consentement décide. Ces répertoires pré-remplissent les fiches. Une fiche devient publique seulement après réclamation, avec un code et un consentement; en pilote, une fiche non réclamée n’est visible que par la SDC. Le code part à l’adresse que la SDC ou la Ville a déjà au dossier, jamais à celle qu’on tape. Dans cette démo, les fiches pré-remplies sont fictives et marquées. Les personnes, elles, ne sont jamais pré-remplies. » (Dans la démo, les neuf fiches pré-remplies fictives restent visibles sur la carte, voulu, avec l’étiquette « Pré-rempli · visible ici pour la démo », sans coordonnées : la règle du pilote n’est pas codée; ne pas dire le contraire.) Nos règles s’appuient aussi sur le Plan d’action Saint-Roch. (42 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Visuel : une carte de proposition avec « Pourquoi cette suggestion » et « À confirmer » surlignés; en bas, en petit : « Chaque suggestion s’explique. » Notes du test d’IA (pas sur la diapo, à voix haute seulement si on veut) : « Modèle multilingue dans le navigateur, gratuit, texte sur l’appareil (page /labo/) : 69 s au premier chargement (129 Mo), 13 s ensuite, 0,3 à 0,6 s par phrase. Trouve des profils semblables, pas complémentaires. » Ce modèle (paraphrase-multilingual-MiniLM) est multilingue. Déjà dans l’app : tolérance aux fautes, aux accents oubliés et à quelques mots d’anglais. Pas d’IA payante aujourd’hui; en phase 2, celui qui déploie la paie.</a:t>
            </a:r>
          </a:p>
          <a:p>
            <a:r>
              <a:t>Signal [COÉQUIPIÈRE] : verdict d’abord : on l’a testée, on a choisi des règles pour que chaque suggestion s’explique. Chiffres du test seulement si le jury demande. (20 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Feuille de route en trois temps :</a:t>
            </a:r>
          </a:p>
          <a:p>
            <a:r>
              <a:t>- Maintenant : démo avec profils fictifs et données ouvertes.</a:t>
            </a:r>
          </a:p>
          <a:p>
            <a:r>
              <a:t>- Ensuite : pilote avec la SDC, profils activés par leurs propriétaires, vraies notifications, fil de projet sur une table gratuite derrière le même écran, modérée par la SDC.</a:t>
            </a:r>
          </a:p>
          <a:p>
            <a:r>
              <a:t>- Plus tard : modèle de langage pour lire les demandes, autres quartiers.</a:t>
            </a:r>
          </a:p>
          <a:p>
            <a:r>
              <a:t>Mesures : projets confirmés, nouveaux partenariats, fréquentation des événements créés.</a:t>
            </a:r>
          </a:p>
          <a:p>
            <a:r>
              <a:t>Signal [CIAN] : portée : « Maillage règle un problème précis : trouver le bon partenaire, se mettre d’accord et passer à l’action. On s’arrête là où d’autres outils existent : 311, 911, financement. » Puis le fil et la modération, une seule fois : « Le fil de la démo est simulé; un vrai fil partagé existe déjà en option, hébergé au Canada. Le tableau de modération pour la SDC est prévu, pas construit. » Puis la demande de pilote : « Ce qu’on demande à la SDC : dix membres volontaires, un trimestre, une personne à temps partiel et un export du fichier des membres. On mesure trois chiffres, et on décide ensemble si on étend. » (45 s)</a:t>
            </a:r>
          </a:p>
          <a:p>
            <a:r>
              <a:t>Histoire 2 (en direct seulement si le temps le permet, voir script-fr.md, démo étape 6 : Accueil, Proposer un projet, Exemple, Avant de commencer) : Sofia, résidente de la rue Saint-Joseph, corvée le samedi 24 octobre de 13 h à 17 h, voit des graffitis et des déchets; Maillage lui propose une « Corvée de propreté avec Équipe Propreté du Faubourg », des bénévoles et un café du coin, avec la liste « autorisation du propriétaire, 311 pour la voie publique ». Noms fictifs.</a:t>
            </a:r>
          </a:p>
          <a:p>
            <a:r>
              <a:t>À ajouter à la feuille de route seulement si non démontré en direct : Explorer le quartier, profils publics, fil de projet, projets ouverts.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Visuel : la carte, les trois points reliés, code QR vers https://cianthiffault2006-png.github.io/hackathon-saint-roch-2026/ (lien officiel, GitHub Pages). Ne pas mettre le lien Vercel : il est figé sur une ancienne version.</a:t>
            </a:r>
          </a:p>
          <a:p>
            <a:r>
              <a:t>Pied de page : « Équipe 14 · Outils d’IA : Claude Code et Claude (code, scripts de données, brouillons de textes). Fait par l’équipe : cadrage du problème, choix de données, conception, tests, présentation. »</a:t>
            </a:r>
          </a:p>
          <a:p>
            <a:r>
              <a:t>Signal [COÉQUIPIÈRE] : phrase finale, « Merci! », attendre les questions. (15 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737360"/>
            <a:ext cx="67665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800" b="1">
                <a:solidFill>
                  <a:srgbClr val="1F5F4A"/>
                </a:solidFill>
                <a:latin typeface="Calibri"/>
              </a:rPr>
              <a:t>Maillage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3291840"/>
            <a:ext cx="1463040" cy="73152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3520440"/>
            <a:ext cx="676656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0">
                <a:solidFill>
                  <a:srgbClr val="222B27"/>
                </a:solidFill>
                <a:latin typeface="Calibri"/>
              </a:rPr>
              <a:t>Un café, une artiste, un organisme : un projet.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120640"/>
            <a:ext cx="6766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F5F4A"/>
                </a:solidFill>
                <a:latin typeface="Calibri"/>
              </a:rPr>
              <a:t>Équipe 14 · Hackathon étudiant 2026 · Saint-Roch</a:t>
            </a:r>
          </a:p>
        </p:txBody>
      </p:sp>
      <p:pic>
        <p:nvPicPr>
          <p:cNvPr id="7" name="Picture 6" descr="slide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46174" y="731520"/>
            <a:ext cx="2492931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25880"/>
          </a:xfrm>
          <a:prstGeom prst="rect">
            <a:avLst/>
          </a:prstGeom>
          <a:solidFill>
            <a:srgbClr val="1F5F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Le problème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325880"/>
            <a:ext cx="12191695" cy="6400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911535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222B27"/>
                </a:solidFill>
                <a:latin typeface="Calibri"/>
              </a:rPr>
              <a:t>Les initiatives existent. Ce qui manque, c’est le réseau qui les relie.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337560"/>
            <a:ext cx="2556433" cy="23774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3337560"/>
            <a:ext cx="2556433" cy="10972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566160"/>
            <a:ext cx="2190673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>
                <a:solidFill>
                  <a:srgbClr val="222B27"/>
                </a:solidFill>
                <a:latin typeface="Calibri"/>
              </a:rPr>
              <a:t>Un café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25113" y="3337560"/>
            <a:ext cx="2556433" cy="23774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425113" y="3337560"/>
            <a:ext cx="2556433" cy="10972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07993" y="3566160"/>
            <a:ext cx="2190673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>
                <a:solidFill>
                  <a:srgbClr val="222B27"/>
                </a:solidFill>
                <a:latin typeface="Calibri"/>
              </a:rPr>
              <a:t>Une artiste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6" y="3337560"/>
            <a:ext cx="2556433" cy="23774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10146" y="3337560"/>
            <a:ext cx="2556433" cy="10972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93026" y="3566160"/>
            <a:ext cx="2190673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>
                <a:solidFill>
                  <a:srgbClr val="222B27"/>
                </a:solidFill>
                <a:latin typeface="Calibri"/>
              </a:rPr>
              <a:t>Un organisme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95179" y="3337560"/>
            <a:ext cx="2556433" cy="23774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995179" y="3337560"/>
            <a:ext cx="2556433" cy="10972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78059" y="3566160"/>
            <a:ext cx="2190673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>
                <a:solidFill>
                  <a:srgbClr val="222B27"/>
                </a:solidFill>
                <a:latin typeface="Calibri"/>
              </a:rPr>
              <a:t>Ce qu’on a entendu hier : les initiatives existent, le réseau manque.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F5F4A"/>
                </a:solidFill>
                <a:latin typeface="Calibri"/>
              </a:rPr>
              <a:t>Équipe 14 · Maillage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37215" y="6400800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1F5F4A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25880"/>
          </a:xfrm>
          <a:prstGeom prst="rect">
            <a:avLst/>
          </a:prstGeom>
          <a:solidFill>
            <a:srgbClr val="1F5F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La solution : Maillage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325880"/>
            <a:ext cx="12191695" cy="6400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6309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222B27"/>
                </a:solidFill>
                <a:latin typeface="Calibri"/>
              </a:rPr>
              <a:t>Maillage ne remplace aucun outil existant : il crée le lien qui manque.</a:t>
            </a:r>
          </a:p>
        </p:txBody>
      </p:sp>
      <p:pic>
        <p:nvPicPr>
          <p:cNvPr id="6" name="Picture 5" descr="slide-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39403" y="1691640"/>
            <a:ext cx="2049274" cy="44348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F5F4A"/>
                </a:solidFill>
                <a:latin typeface="Calibri"/>
              </a:rPr>
              <a:t>Équipe 14 · Maillage  ·  Fond de carte : © OpenStreetMap, OpenFreeMap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37215" y="6400800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1F5F4A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25880"/>
          </a:xfrm>
          <a:prstGeom prst="rect">
            <a:avLst/>
          </a:prstGeom>
          <a:solidFill>
            <a:srgbClr val="1F5F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Technologies, outils et données utilisés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325880"/>
            <a:ext cx="12191695" cy="6400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6309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222B27"/>
                </a:solidFill>
                <a:latin typeface="Calibri"/>
              </a:rPr>
              <a:t>Personne ne commence avec une page blanche.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337560"/>
            <a:ext cx="6309360" cy="448056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3337560"/>
            <a:ext cx="109728" cy="448056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337560"/>
            <a:ext cx="5943600" cy="4480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>
                <a:solidFill>
                  <a:srgbClr val="222B27"/>
                </a:solidFill>
                <a:latin typeface="Calibri"/>
              </a:rPr>
              <a:t>React, Vite, TypeScript, MapLibre, GitHub Pages, Claude Code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895344"/>
            <a:ext cx="6309360" cy="448056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3895344"/>
            <a:ext cx="109728" cy="448056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895344"/>
            <a:ext cx="5943600" cy="4480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>
                <a:solidFill>
                  <a:srgbClr val="222B27"/>
                </a:solidFill>
                <a:latin typeface="Calibri"/>
              </a:rPr>
              <a:t>386 membres (fichier fourni par la SDC)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4453128"/>
            <a:ext cx="6309360" cy="448056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4453128"/>
            <a:ext cx="109728" cy="448056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4453128"/>
            <a:ext cx="5943600" cy="4480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>
                <a:solidFill>
                  <a:srgbClr val="222B27"/>
                </a:solidFill>
                <a:latin typeface="Calibri"/>
              </a:rPr>
              <a:t>614 organismes reconnus (toute la ville)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5010912"/>
            <a:ext cx="6309360" cy="448056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5010912"/>
            <a:ext cx="109728" cy="448056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5010912"/>
            <a:ext cx="5943600" cy="4480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>
                <a:solidFill>
                  <a:srgbClr val="222B27"/>
                </a:solidFill>
                <a:latin typeface="Calibri"/>
              </a:rPr>
              <a:t>Données Québec, CC BY 4.0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5568696"/>
            <a:ext cx="6309360" cy="448056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5568696"/>
            <a:ext cx="109728" cy="448056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5568696"/>
            <a:ext cx="5943600" cy="4480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>
                <a:solidFill>
                  <a:srgbClr val="222B27"/>
                </a:solidFill>
                <a:latin typeface="Calibri"/>
              </a:rPr>
              <a:t>Loi 25 : publique après consentement</a:t>
            </a:r>
          </a:p>
        </p:txBody>
      </p:sp>
      <p:pic>
        <p:nvPicPr>
          <p:cNvPr id="21" name="Picture 20" descr="slide-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39403" y="1691640"/>
            <a:ext cx="2049274" cy="443484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4008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F5F4A"/>
                </a:solidFill>
                <a:latin typeface="Calibri"/>
              </a:rPr>
              <a:t>Équipe 14 · Maillage  ·  Fond de carte : © OpenStreetMap, OpenFreeMap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37215" y="6400800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1F5F4A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25880"/>
          </a:xfrm>
          <a:prstGeom prst="rect">
            <a:avLst/>
          </a:prstGeom>
          <a:solidFill>
            <a:srgbClr val="1F5F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Transparence : un moteur de règles, l’IA en phase 2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325880"/>
            <a:ext cx="12191695" cy="6400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6309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222B27"/>
                </a:solidFill>
                <a:latin typeface="Calibri"/>
              </a:rPr>
              <a:t>On l’a testée, on a choisi des règles pour que chaque suggestion s’explique.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337560"/>
            <a:ext cx="6309360" cy="81991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3337560"/>
            <a:ext cx="109728" cy="819912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337560"/>
            <a:ext cx="5943600" cy="819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>
                <a:solidFill>
                  <a:srgbClr val="222B27"/>
                </a:solidFill>
                <a:latin typeface="Calibri"/>
              </a:rPr>
              <a:t>Règles visibles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4267200"/>
            <a:ext cx="6309360" cy="81991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4267200"/>
            <a:ext cx="109728" cy="819912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4267200"/>
            <a:ext cx="5943600" cy="819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>
                <a:solidFill>
                  <a:srgbClr val="222B27"/>
                </a:solidFill>
                <a:latin typeface="Calibri"/>
              </a:rPr>
              <a:t>Score pondéré visible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5196840"/>
            <a:ext cx="6309360" cy="81991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5196840"/>
            <a:ext cx="109728" cy="819912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5196840"/>
            <a:ext cx="5943600" cy="819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>
                <a:solidFill>
                  <a:srgbClr val="222B27"/>
                </a:solidFill>
                <a:latin typeface="Calibri"/>
              </a:rPr>
              <a:t>IA phase 2 : toutes les langues, toutes les fautes</a:t>
            </a:r>
          </a:p>
        </p:txBody>
      </p:sp>
      <p:pic>
        <p:nvPicPr>
          <p:cNvPr id="15" name="Picture 14" descr="slide-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39403" y="1691640"/>
            <a:ext cx="2049274" cy="443484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4008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F5F4A"/>
                </a:solidFill>
                <a:latin typeface="Calibri"/>
              </a:rPr>
              <a:t>Équipe 14 · Maillage  ·  Fond de carte : © OpenStreetMap, OpenFreeMap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37215" y="6400800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1F5F4A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25880"/>
          </a:xfrm>
          <a:prstGeom prst="rect">
            <a:avLst/>
          </a:prstGeom>
          <a:solidFill>
            <a:srgbClr val="1F5F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Impact et feuille de route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325880"/>
            <a:ext cx="12191695" cy="6400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6309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222B27"/>
                </a:solidFill>
                <a:latin typeface="Calibri"/>
              </a:rPr>
              <a:t>Un pilote avec la SDC, puis tout Saint-Roch.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337560"/>
            <a:ext cx="6309360" cy="448056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3337560"/>
            <a:ext cx="109728" cy="448056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337560"/>
            <a:ext cx="5943600" cy="4480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>
                <a:solidFill>
                  <a:srgbClr val="222B27"/>
                </a:solidFill>
                <a:latin typeface="Calibri"/>
              </a:rPr>
              <a:t>Maintenant : démo simulée, fil en direct en option (Canada)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895344"/>
            <a:ext cx="6309360" cy="448056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3895344"/>
            <a:ext cx="109728" cy="448056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895344"/>
            <a:ext cx="5943600" cy="4480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>
                <a:solidFill>
                  <a:srgbClr val="222B27"/>
                </a:solidFill>
                <a:latin typeface="Calibri"/>
              </a:rPr>
              <a:t>Pilote : vraie invitation, fil partagé modéré par la SDC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4453128"/>
            <a:ext cx="6309360" cy="448056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4453128"/>
            <a:ext cx="109728" cy="448056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4453128"/>
            <a:ext cx="5943600" cy="4480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>
                <a:solidFill>
                  <a:srgbClr val="222B27"/>
                </a:solidFill>
                <a:latin typeface="Calibri"/>
              </a:rPr>
              <a:t>Plus tard : IA, autres quartiers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5010912"/>
            <a:ext cx="6309360" cy="448056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5010912"/>
            <a:ext cx="109728" cy="448056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5010912"/>
            <a:ext cx="5943600" cy="4480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>
                <a:solidFill>
                  <a:srgbClr val="222B27"/>
                </a:solidFill>
                <a:latin typeface="Calibri"/>
              </a:rPr>
              <a:t>Ce qu’on demande à la SDC : dix membres volontaires, un trimestre, une personne à temps partiel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5568696"/>
            <a:ext cx="6309360" cy="448056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5568696"/>
            <a:ext cx="109728" cy="448056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5568696"/>
            <a:ext cx="5943600" cy="4480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>
                <a:solidFill>
                  <a:srgbClr val="222B27"/>
                </a:solidFill>
                <a:latin typeface="Calibri"/>
              </a:rPr>
              <a:t>trois mesures</a:t>
            </a:r>
          </a:p>
        </p:txBody>
      </p:sp>
      <p:pic>
        <p:nvPicPr>
          <p:cNvPr id="21" name="Picture 20" descr="slide-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39403" y="1691640"/>
            <a:ext cx="2049274" cy="443484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4008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F5F4A"/>
                </a:solidFill>
                <a:latin typeface="Calibri"/>
              </a:rPr>
              <a:t>Équipe 14 · Maillage  ·  Fond de carte : © OpenStreetMap, OpenFreeMap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37215" y="6400800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1F5F4A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25880"/>
          </a:xfrm>
          <a:prstGeom prst="rect">
            <a:avLst/>
          </a:prstGeom>
          <a:solidFill>
            <a:srgbClr val="1F5F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Conclusion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325880"/>
            <a:ext cx="12191695" cy="6400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63093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222B27"/>
                </a:solidFill>
                <a:latin typeface="Calibri"/>
              </a:rPr>
              <a:t>Saint-Roch a déjà tout ce qu’il faut. Maillage aide ses voisins à se trouver.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337560"/>
            <a:ext cx="6309360" cy="81991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3337560"/>
            <a:ext cx="109728" cy="819912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337560"/>
            <a:ext cx="5943600" cy="819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>
                <a:solidFill>
                  <a:srgbClr val="222B27"/>
                </a:solidFill>
                <a:latin typeface="Calibri"/>
              </a:rPr>
              <a:t>cianthiffault2006-png.github.io/hackathon-saint-roch-2026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4267200"/>
            <a:ext cx="6309360" cy="81991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4267200"/>
            <a:ext cx="109728" cy="819912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4267200"/>
            <a:ext cx="5943600" cy="819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>
                <a:solidFill>
                  <a:srgbClr val="222B27"/>
                </a:solidFill>
                <a:latin typeface="Calibri"/>
              </a:rPr>
              <a:t>Outils d’IA : Claude Code et Claude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5196840"/>
            <a:ext cx="6309360" cy="81991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5196840"/>
            <a:ext cx="109728" cy="819912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5196840"/>
            <a:ext cx="5943600" cy="819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>
                <a:solidFill>
                  <a:srgbClr val="222B27"/>
                </a:solidFill>
                <a:latin typeface="Calibri"/>
              </a:rPr>
              <a:t>fait par l’équipe : cadrage, données, conception, tests, présentation</a:t>
            </a:r>
          </a:p>
        </p:txBody>
      </p:sp>
      <p:pic>
        <p:nvPicPr>
          <p:cNvPr id="15" name="Picture 14" descr="slide-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1760220"/>
            <a:ext cx="4297680" cy="429768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40080" y="640080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1F5F4A"/>
                </a:solidFill>
                <a:latin typeface="Calibri"/>
              </a:rPr>
              <a:t>Équipe 14 · Maillage  ·  Fond de carte : © OpenStreetMap, OpenFreeMap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37215" y="6400800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1F5F4A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